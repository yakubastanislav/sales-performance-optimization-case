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strument Sans Medium" panose="020B0604020202020204" charset="0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163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775321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Reversing the Slowdown: Executive Sales &amp; Customer Insights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573562"/>
            <a:ext cx="6296860" cy="1509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Data-Driven Diagnosis, Power BI Dashboard Demo, and Change Management Plan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by: </a:t>
            </a:r>
            <a:r>
              <a:rPr lang="en-US" sz="1300" dirty="0" err="1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Stanislau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300" dirty="0" err="1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Yakubouski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• Date: August 18, 2026 • Project Scope: 24-month transactional analysis (Dynamics 365 CRM, ERP, Customer Service Logs, NPS)</a:t>
            </a:r>
            <a:endParaRPr lang="en-US" sz="13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6AAEE-0449-41FD-A412-282E3C14A97F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114" y="0"/>
            <a:ext cx="457188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4" y="1253331"/>
            <a:ext cx="8231513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 &amp; Project Objectives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1145881" y="2532670"/>
            <a:ext cx="3065783" cy="3069828"/>
          </a:xfrm>
          <a:prstGeom prst="roundRect">
            <a:avLst>
              <a:gd name="adj" fmla="val 809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1311175" y="2697968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11175" y="3055652"/>
            <a:ext cx="273519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growth has decelerated to 2.00% YoY, eroding revenue resilience. Repeat purchase rates in CA and TX fell from ~35% to ~25% over the last 12 months. Lack of visibility into whether root causes are product, service, or market execution.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26568" y="2534841"/>
            <a:ext cx="3065783" cy="3069828"/>
          </a:xfrm>
          <a:prstGeom prst="roundRect">
            <a:avLst>
              <a:gd name="adj" fmla="val 809"/>
            </a:avLst>
          </a:prstGeom>
          <a:solidFill>
            <a:srgbClr val="3E3E3E"/>
          </a:solidFill>
          <a:ln/>
        </p:spPr>
      </p:sp>
      <p:sp>
        <p:nvSpPr>
          <p:cNvPr id="8" name="Text 5"/>
          <p:cNvSpPr/>
          <p:nvPr/>
        </p:nvSpPr>
        <p:spPr>
          <a:xfrm>
            <a:off x="5391863" y="2741413"/>
            <a:ext cx="27351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91863" y="3123902"/>
            <a:ext cx="2735194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Improve Visibility: Deliver a dynamic Power BI diagnostic dashboard by region, channel, and segment. 2) Identify Drivers: Differentiate market shifts from internal process/service gaps. 3) Actionable Recommendations: Provide three prioritized, resource-aligned interventions.</a:t>
            </a:r>
            <a:endParaRPr lang="en-US" sz="13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AD2FA6-2C2C-4DB2-9CD6-23B5896FD00C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52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Structured Approach &amp; Technical Stack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22648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442766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 1 — Discovery (Weeks 1-2)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2800449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Gathered FR-01 to FR-09 and NFR-01 to NFR-02; defined user stories for Regional Managers, Sales Director, and Customer Service.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1822648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132" y="2442766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 2 — Data Engineering (Weeks 3-4)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99132" y="2800449"/>
            <a:ext cx="533108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Consolidated Dynamics 365 CRM, ERP sales orders, and ticketing data; remediated incomplete profiles and inconsistent complaint coding.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924995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545112"/>
            <a:ext cx="53309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 3 — Analysis (Week 5)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475" y="4902795"/>
            <a:ext cx="53309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Performed hypothesis testing in Excel to validate trends and channel performance.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9132" y="3924995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9132" y="4545112"/>
            <a:ext cx="533108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 4 — Dashboard &amp; Visio (Week 6)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99132" y="4902795"/>
            <a:ext cx="533108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Power BI report and mapped As-Is vs To-Be processes in Visio.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61475" y="561806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Stack: Microsoft Excel, SQL, Power BI, MS Visio.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B369D5-20B4-44A8-9798-ED185C3F7348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918"/>
            <a:ext cx="10868745" cy="379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Optimization: As-Is → To-Be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57374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As-Is (Manual &amp; Fragmented)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5430" y="1487954"/>
            <a:ext cx="5286243" cy="4589393"/>
          </a:xfrm>
          <a:prstGeom prst="rect">
            <a:avLst/>
          </a:prstGeom>
          <a:noFill/>
          <a:ln/>
        </p:spPr>
        <p:txBody>
          <a:bodyPr wrap="square" lIns="0" tIns="48584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Regional Managers manually extract CRM and service logs weekly.</a:t>
            </a:r>
            <a:endParaRPr lang="en-US" sz="20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merged in Excel with VLOOKUPs and pivots; reports emailed by 5th business day.</a:t>
            </a:r>
            <a:endParaRPr lang="en-US" sz="20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Director manually consolidates regional files. No proactive data quality checks; high human-error risk and delayed decisions.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250327" y="1057374"/>
            <a:ext cx="5286243" cy="1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To-Be (Automated &amp; Proactive)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43977" y="1443942"/>
            <a:ext cx="5286243" cy="4804272"/>
          </a:xfrm>
          <a:prstGeom prst="rect">
            <a:avLst/>
          </a:prstGeom>
          <a:noFill/>
          <a:ln/>
        </p:spPr>
        <p:txBody>
          <a:bodyPr wrap="square" lIns="0" tIns="48584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 capture from CRM, ERP, and ticketing systems.</a:t>
            </a:r>
            <a:endParaRPr lang="en-US" sz="20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Daily incremental ETL into SQL Server data mart; automated Power BI refresh by 08:00 with RLS.</a:t>
            </a:r>
            <a:endParaRPr lang="en-US" sz="200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2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Proactive Teams alerts and monthly reviews focused on action, not data gathering.</a:t>
            </a:r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93008E-7126-4610-A2FB-B2A69AA688D5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69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Financial Performance &amp; Decelerating Growth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54337"/>
            <a:ext cx="10868745" cy="2946102"/>
          </a:xfrm>
          <a:prstGeom prst="roundRect">
            <a:avLst>
              <a:gd name="adj" fmla="val 842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160687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68023" y="2160687"/>
            <a:ext cx="4342398" cy="475754"/>
          </a:xfrm>
          <a:custGeom>
            <a:avLst/>
            <a:gdLst/>
            <a:ahLst/>
            <a:cxnLst/>
            <a:rect l="l" t="t" r="r" b="b"/>
            <a:pathLst>
              <a:path w="4342398" h="475754">
                <a:moveTo>
                  <a:pt x="20674" y="0"/>
                </a:moveTo>
                <a:lnTo>
                  <a:pt x="4342398" y="0"/>
                </a:lnTo>
                <a:lnTo>
                  <a:pt x="4342398" y="475754"/>
                </a:lnTo>
                <a:lnTo>
                  <a:pt x="0" y="475754"/>
                </a:lnTo>
                <a:lnTo>
                  <a:pt x="0" y="20674"/>
                </a:lnTo>
                <a:arcTo wR="20674" hR="20674" stAng="10800000" swAng="5400000"/>
                <a:close/>
              </a:path>
            </a:pathLst>
          </a:custGeom>
          <a:solidFill>
            <a:srgbClr val="F5F547"/>
          </a:solidFill>
          <a:ln/>
        </p:spPr>
      </p:sp>
      <p:sp>
        <p:nvSpPr>
          <p:cNvPr id="6" name="Text 4"/>
          <p:cNvSpPr/>
          <p:nvPr/>
        </p:nvSpPr>
        <p:spPr>
          <a:xfrm>
            <a:off x="833317" y="2266255"/>
            <a:ext cx="46182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Metric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10422" y="2160687"/>
            <a:ext cx="2171150" cy="475754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8" name="Text 6"/>
          <p:cNvSpPr/>
          <p:nvPr/>
        </p:nvSpPr>
        <p:spPr>
          <a:xfrm>
            <a:off x="5178891" y="2266255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Prior Year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81571" y="2160687"/>
            <a:ext cx="2171150" cy="475754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0" name="Text 8"/>
          <p:cNvSpPr/>
          <p:nvPr/>
        </p:nvSpPr>
        <p:spPr>
          <a:xfrm>
            <a:off x="7350040" y="2266255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Current Year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352721" y="2160687"/>
            <a:ext cx="2171150" cy="475754"/>
          </a:xfrm>
          <a:custGeom>
            <a:avLst/>
            <a:gdLst/>
            <a:ahLst/>
            <a:cxnLst/>
            <a:rect l="l" t="t" r="r" b="b"/>
            <a:pathLst>
              <a:path w="2171150" h="475754">
                <a:moveTo>
                  <a:pt x="0" y="0"/>
                </a:moveTo>
                <a:lnTo>
                  <a:pt x="2150476" y="0"/>
                </a:lnTo>
                <a:arcTo wR="20674" hR="20674" stAng="16200000" swAng="5400000"/>
                <a:lnTo>
                  <a:pt x="2171150" y="475754"/>
                </a:lnTo>
                <a:lnTo>
                  <a:pt x="0" y="475754"/>
                </a:lnTo>
                <a:lnTo>
                  <a:pt x="0" y="0"/>
                </a:lnTo>
                <a:close/>
              </a:path>
            </a:pathLst>
          </a:custGeom>
          <a:solidFill>
            <a:srgbClr val="F5F547"/>
          </a:solidFill>
          <a:ln/>
        </p:spPr>
      </p:sp>
      <p:sp>
        <p:nvSpPr>
          <p:cNvPr id="12" name="Text 10"/>
          <p:cNvSpPr/>
          <p:nvPr/>
        </p:nvSpPr>
        <p:spPr>
          <a:xfrm>
            <a:off x="9521190" y="2266255"/>
            <a:ext cx="244697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YoY Change / Status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7825" y="2636441"/>
            <a:ext cx="10856046" cy="74672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33317" y="2742009"/>
            <a:ext cx="46182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Sales Amount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78891" y="2742009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$551,535.00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50040" y="2742009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$562,566.29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21190" y="2742009"/>
            <a:ext cx="183738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+2.00% —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Decelerating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825" y="3383161"/>
            <a:ext cx="10856046" cy="74672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33317" y="3488730"/>
            <a:ext cx="46182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Cost Amount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78891" y="3488730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$371,845.00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50040" y="3488730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$379,930.08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21190" y="3488730"/>
            <a:ext cx="183738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+2.17% —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📈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Increasing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825" y="4129881"/>
            <a:ext cx="10856046" cy="4821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33317" y="4235450"/>
            <a:ext cx="46182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Gross Profit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78891" y="4235450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$179,690.00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50040" y="4235450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$182,636.21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21190" y="4235450"/>
            <a:ext cx="2446971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+1.64% —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Lagging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825" y="4611985"/>
            <a:ext cx="10856046" cy="4821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33317" y="4717554"/>
            <a:ext cx="461822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Gross Profit Margin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78891" y="4717554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32.58%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50040" y="4717554"/>
            <a:ext cx="244379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32.46%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21190" y="4717554"/>
            <a:ext cx="2446971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-0.12% —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📉</a:t>
            </a: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Eroding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1475" y="528647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takeaway: Sales growth flattened at exactly 2.00% while costs rose faster (+2.17%), subtly eroding gross margin by -0.12%.</a:t>
            </a:r>
            <a:endParaRPr lang="en-US" sz="13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AAAFF0-8EE7-4AA9-B055-A0935F13CDE3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6485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Regional Analysis: The CA &amp; TX Retention Crisis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12281"/>
            <a:ext cx="766644" cy="766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4786" y="3012281"/>
            <a:ext cx="251175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California (CA)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34786" y="3369965"/>
            <a:ext cx="2511759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 rate dropped from 34.90% to 24.92% — a -9.98 percentage-point decline. t-test p-value = 0.01 (t-stat = 2.7) indicating statistical significance.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213" y="3012281"/>
            <a:ext cx="766644" cy="766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26525" y="3012281"/>
            <a:ext cx="25118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Texas (TX)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326525" y="3369965"/>
            <a:ext cx="251185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 rate dropped from 34.87% to 25.12% — a -9.75 percentage-point decline. Highly significant and not random fluctuation.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050" y="3012281"/>
            <a:ext cx="766644" cy="766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18362" y="3012281"/>
            <a:ext cx="25118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Other Regions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018362" y="3369965"/>
            <a:ext cx="251185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NY ~30% (stable), FL ~30% (slight increase), IL ~29.73% (stable), WA 30.11% (flat). The retention drop is highly localized to CA and TX.</a:t>
            </a:r>
            <a:endParaRPr lang="en-US" sz="13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3562C5-001C-4F59-883B-DE60B14A6984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Channel Analysis &amp; Average Order Value (AOV)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088897"/>
            <a:ext cx="11064360" cy="4252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2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Order Value comparison: Online AOV = $634.25 (N=960); Direct AOV = $656.61 (N=543). Hypothesis test (Online vs Direct) yields t-stat = -0.5436, p-value = 0.59 → no statistically significant difference in order sizes.</a:t>
            </a:r>
            <a:endParaRPr lang="en-US" sz="2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insight: Since transaction sizes are equivalent across channels, the slowdown is driven by purchase frequency (retention) rather than channel-specific pricing or cart size.</a:t>
            </a:r>
            <a:endParaRPr lang="en-US" sz="2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C8BEE3-5E15-482A-8C73-3104D4E0209A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0054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 BI Dashboard: Structure &amp; Navigation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47974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668091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Page 0 — Description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475" y="3025775"/>
            <a:ext cx="348507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Landing page with user role guides, interactive instructions, and embedded feedback form link.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3213" y="2047974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53213" y="2668091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Page 1 — Executive Summary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353213" y="3025775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High-level KPIs (Sales, Growth, Repeat Rate, NPS) with 24-month trend line and alert thresholds.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5050" y="2047974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5050" y="2668091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Page 2 — Regional Performance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045050" y="3025775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Profitability matrix by region and channel to spot underperforming segments.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150320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770438"/>
            <a:ext cx="34850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Page 3 — Customer Insights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61475" y="5128121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Cohort analysis of repeat purchases, sales by customer type, and repeat distribution.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53213" y="4150320"/>
            <a:ext cx="413434" cy="4134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53213" y="4770438"/>
            <a:ext cx="348517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Page 4 — Order Details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353213" y="5128121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Granular transactional table with one-click export to Excel for investigative work.</a:t>
            </a:r>
            <a:endParaRPr lang="en-US" sz="13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8C829D-445C-41DE-B915-6E04E9A44C93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71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Training, Change Management &amp; Communications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086323" y="1774527"/>
            <a:ext cx="19050" cy="4156373"/>
          </a:xfrm>
          <a:prstGeom prst="roundRect">
            <a:avLst>
              <a:gd name="adj" fmla="val 49999"/>
            </a:avLst>
          </a:prstGeom>
          <a:solidFill>
            <a:srgbClr val="575757"/>
          </a:solidFill>
          <a:ln/>
        </p:spPr>
      </p:sp>
      <p:sp>
        <p:nvSpPr>
          <p:cNvPr id="4" name="Shape 2"/>
          <p:cNvSpPr/>
          <p:nvPr/>
        </p:nvSpPr>
        <p:spPr>
          <a:xfrm>
            <a:off x="5432785" y="1951037"/>
            <a:ext cx="496081" cy="19050"/>
          </a:xfrm>
          <a:prstGeom prst="roundRect">
            <a:avLst>
              <a:gd name="adj" fmla="val 49999"/>
            </a:avLst>
          </a:prstGeom>
          <a:solidFill>
            <a:srgbClr val="575757"/>
          </a:solidFill>
          <a:ln/>
        </p:spPr>
      </p:sp>
      <p:sp>
        <p:nvSpPr>
          <p:cNvPr id="5" name="Shape 3"/>
          <p:cNvSpPr/>
          <p:nvPr/>
        </p:nvSpPr>
        <p:spPr>
          <a:xfrm>
            <a:off x="5909817" y="177452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6" name="Text 4"/>
          <p:cNvSpPr/>
          <p:nvPr/>
        </p:nvSpPr>
        <p:spPr>
          <a:xfrm>
            <a:off x="5971827" y="1805533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1831380"/>
            <a:ext cx="4607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Training Rollout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1475" y="2189063"/>
            <a:ext cx="4607504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1 (Week -2 to Launch): Leadership &amp; Regional Managers — 1-hour interactive virtual workshops on strategy, KPIs, and drill-throughs. Phase 2 (Week -1 to Launch): Operational Teams — hands-on sessions for cohort analysis and campaign tracking. Phase 3 (Launch Week): Technical Support — documentation walkthroughs for ETL and monitoring.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2828" y="2943225"/>
            <a:ext cx="496081" cy="19050"/>
          </a:xfrm>
          <a:prstGeom prst="roundRect">
            <a:avLst>
              <a:gd name="adj" fmla="val 49999"/>
            </a:avLst>
          </a:prstGeom>
          <a:solidFill>
            <a:srgbClr val="575757"/>
          </a:solidFill>
          <a:ln/>
        </p:spPr>
      </p:sp>
      <p:sp>
        <p:nvSpPr>
          <p:cNvPr id="10" name="Shape 8"/>
          <p:cNvSpPr/>
          <p:nvPr/>
        </p:nvSpPr>
        <p:spPr>
          <a:xfrm>
            <a:off x="5909817" y="2766715"/>
            <a:ext cx="372061" cy="37207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1" name="Text 9"/>
          <p:cNvSpPr/>
          <p:nvPr/>
        </p:nvSpPr>
        <p:spPr>
          <a:xfrm>
            <a:off x="5971827" y="279772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922716" y="2823567"/>
            <a:ext cx="4607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 Channels &amp; Alerts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22716" y="3181251"/>
            <a:ext cx="460750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Portal hosts live link, short videos (&lt;3 min), and To-Be process maps. Teams 'Sales Insights' channel for release notes and Q&amp;A. Automated daily 09:00 AM alert to Regional Managers if 7-day rolling repeat rate &lt;25%, linking to filtered dashboard.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32785" y="4548584"/>
            <a:ext cx="496081" cy="19050"/>
          </a:xfrm>
          <a:prstGeom prst="roundRect">
            <a:avLst>
              <a:gd name="adj" fmla="val 49999"/>
            </a:avLst>
          </a:prstGeom>
          <a:solidFill>
            <a:srgbClr val="575757"/>
          </a:solidFill>
          <a:ln/>
        </p:spPr>
      </p:sp>
      <p:sp>
        <p:nvSpPr>
          <p:cNvPr id="15" name="Shape 13"/>
          <p:cNvSpPr/>
          <p:nvPr/>
        </p:nvSpPr>
        <p:spPr>
          <a:xfrm>
            <a:off x="5909817" y="4372074"/>
            <a:ext cx="372061" cy="372070"/>
          </a:xfrm>
          <a:prstGeom prst="roundRect">
            <a:avLst>
              <a:gd name="adj" fmla="val 6668"/>
            </a:avLst>
          </a:prstGeom>
          <a:solidFill>
            <a:srgbClr val="3E3E3E"/>
          </a:solidFill>
          <a:ln/>
        </p:spPr>
      </p:sp>
      <p:sp>
        <p:nvSpPr>
          <p:cNvPr id="16" name="Text 14"/>
          <p:cNvSpPr/>
          <p:nvPr/>
        </p:nvSpPr>
        <p:spPr>
          <a:xfrm>
            <a:off x="5971827" y="440308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61475" y="4428927"/>
            <a:ext cx="46075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Feedback &amp; Continuous Improvement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475" y="4786610"/>
            <a:ext cx="460750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Embedded Microsoft Forms on Description page; monthly 30-minute Office Hours (first Thursday) and bi-monthly dashboard releases driven by feedback.</a:t>
            </a:r>
            <a:endParaRPr lang="en-US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913B3-EB51-4835-8DF1-AC0F21779130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156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Risks, Recommendations &amp; Next Steps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661475" y="1176536"/>
            <a:ext cx="2625560" cy="2407146"/>
          </a:xfrm>
          <a:prstGeom prst="roundRect">
            <a:avLst>
              <a:gd name="adj" fmla="val 886"/>
            </a:avLst>
          </a:prstGeom>
          <a:solidFill>
            <a:srgbClr val="3E3E3E"/>
          </a:solidFill>
          <a:ln/>
        </p:spPr>
      </p:sp>
      <p:sp>
        <p:nvSpPr>
          <p:cNvPr id="4" name="Shape 2"/>
          <p:cNvSpPr/>
          <p:nvPr/>
        </p:nvSpPr>
        <p:spPr>
          <a:xfrm>
            <a:off x="803553" y="1318617"/>
            <a:ext cx="426332" cy="426343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0826" y="1435894"/>
            <a:ext cx="191785" cy="191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3553" y="1867098"/>
            <a:ext cx="234140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Quality Risk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3553" y="2162373"/>
            <a:ext cx="2341405" cy="1057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Risk: Duplicate/missing OrderIDs and inconsistent complaint coding. Mitigation: Implement automated constraints and validation scripts before load. Owner: Data Engineer.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09170" y="1176536"/>
            <a:ext cx="2625560" cy="2407146"/>
          </a:xfrm>
          <a:prstGeom prst="roundRect">
            <a:avLst>
              <a:gd name="adj" fmla="val 886"/>
            </a:avLst>
          </a:prstGeom>
          <a:solidFill>
            <a:srgbClr val="3E3E3E"/>
          </a:solidFill>
          <a:ln/>
        </p:spPr>
      </p:sp>
      <p:sp>
        <p:nvSpPr>
          <p:cNvPr id="9" name="Shape 6"/>
          <p:cNvSpPr/>
          <p:nvPr/>
        </p:nvSpPr>
        <p:spPr>
          <a:xfrm>
            <a:off x="3551248" y="1318617"/>
            <a:ext cx="426332" cy="426343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8522" y="1435894"/>
            <a:ext cx="191785" cy="1917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1248" y="1867098"/>
            <a:ext cx="234140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Adoption Risk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551248" y="2162373"/>
            <a:ext cx="2341405" cy="1057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Risk: Users bypass dashboard for legacy Excel. Mitigation: Hands-on training, embed feedback, deprecate old tools. Owner: Product Manager.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56866" y="1176536"/>
            <a:ext cx="2625560" cy="2407146"/>
          </a:xfrm>
          <a:prstGeom prst="roundRect">
            <a:avLst>
              <a:gd name="adj" fmla="val 886"/>
            </a:avLst>
          </a:prstGeom>
          <a:solidFill>
            <a:srgbClr val="3E3E3E"/>
          </a:solidFill>
          <a:ln/>
        </p:spPr>
      </p:sp>
      <p:sp>
        <p:nvSpPr>
          <p:cNvPr id="14" name="Shape 10"/>
          <p:cNvSpPr/>
          <p:nvPr/>
        </p:nvSpPr>
        <p:spPr>
          <a:xfrm>
            <a:off x="6298943" y="1318617"/>
            <a:ext cx="426332" cy="426343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6217" y="1435894"/>
            <a:ext cx="191785" cy="1917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98943" y="1867098"/>
            <a:ext cx="2341405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Refresh Dependence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298943" y="2384425"/>
            <a:ext cx="2341405" cy="8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Risk: Delays from manual refresh. Mitigation: Automate ETL with scheduled jobs (SQL Agent / ADF). Owner: BI Developer.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904561" y="1176536"/>
            <a:ext cx="2625659" cy="2407146"/>
          </a:xfrm>
          <a:prstGeom prst="roundRect">
            <a:avLst>
              <a:gd name="adj" fmla="val 886"/>
            </a:avLst>
          </a:prstGeom>
          <a:solidFill>
            <a:srgbClr val="3E3E3E"/>
          </a:solidFill>
          <a:ln/>
        </p:spPr>
      </p:sp>
      <p:sp>
        <p:nvSpPr>
          <p:cNvPr id="19" name="Shape 14"/>
          <p:cNvSpPr/>
          <p:nvPr/>
        </p:nvSpPr>
        <p:spPr>
          <a:xfrm>
            <a:off x="9046639" y="1318617"/>
            <a:ext cx="426332" cy="426343"/>
          </a:xfrm>
          <a:prstGeom prst="ellipse">
            <a:avLst/>
          </a:prstGeom>
          <a:solidFill>
            <a:srgbClr val="F5F5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63912" y="1435894"/>
            <a:ext cx="191785" cy="1917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46639" y="1867098"/>
            <a:ext cx="2341504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Inconsistent Regional Definitions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046639" y="2384425"/>
            <a:ext cx="2341504" cy="1057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Risk: Conflicting regional mappings. Mitigation: Establish single source of truth in the data warehouse. Owner: Data Governance Lead.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61475" y="3756521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BFBFBF">
              <a:alpha val="50000"/>
            </a:srgbClr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3948410"/>
            <a:ext cx="5373255" cy="24214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262777" y="4054971"/>
            <a:ext cx="17055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22602" y="4516834"/>
            <a:ext cx="505100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Immediate Recommendations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822602" y="4812109"/>
            <a:ext cx="5051001" cy="1057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1) Targeted Retention Campaigns: Launch customer success outreach in CA &amp; TX to address the statistically significant retention drop. 2) Standardize Complaint Taxonomy: Implement unified taxonomy across centers to improve data quality. 3) Automate ETL: Move daily refresh to fully scheduled jobs.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56866" y="3948410"/>
            <a:ext cx="5373355" cy="242143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758266" y="4054971"/>
            <a:ext cx="17055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6317993" y="4516834"/>
            <a:ext cx="5051100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Next Steps &amp; Milestones</a:t>
            </a:r>
            <a:endParaRPr lang="en-US" sz="1350" dirty="0"/>
          </a:p>
        </p:txBody>
      </p:sp>
      <p:sp>
        <p:nvSpPr>
          <p:cNvPr id="31" name="Text 23"/>
          <p:cNvSpPr/>
          <p:nvPr/>
        </p:nvSpPr>
        <p:spPr>
          <a:xfrm>
            <a:off x="6317993" y="4812109"/>
            <a:ext cx="5051100" cy="1396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24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 24, 2026: Complete Phase 1 Training (Leadership &amp; Regional Managers).</a:t>
            </a:r>
            <a:endParaRPr lang="en-US" sz="1100" dirty="0"/>
          </a:p>
          <a:p>
            <a:pPr marL="223520" indent="-223520" algn="l">
              <a:lnSpc>
                <a:spcPct val="124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Aug 31, 2026: Complete Phase 2 Training (Marketing &amp; CS) and launch SharePoint portal.</a:t>
            </a:r>
            <a:endParaRPr lang="en-US" sz="1100" dirty="0"/>
          </a:p>
          <a:p>
            <a:pPr marL="223520" indent="-223520" algn="l">
              <a:lnSpc>
                <a:spcPct val="124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 1, 2026: Go-Live Power BI Dashboard &amp; Automated Teams Alerts.</a:t>
            </a:r>
            <a:endParaRPr lang="en-US" sz="1100" dirty="0"/>
          </a:p>
          <a:p>
            <a:pPr marL="223520" indent="-223520" algn="l">
              <a:lnSpc>
                <a:spcPct val="124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 1, 2026: First Monthly Review and Feedback Assessment.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801B8A-3E35-4161-A527-383C18B1ED2D}"/>
              </a:ext>
            </a:extLst>
          </p:cNvPr>
          <p:cNvSpPr/>
          <p:nvPr/>
        </p:nvSpPr>
        <p:spPr>
          <a:xfrm>
            <a:off x="10972800" y="6553200"/>
            <a:ext cx="1156447" cy="242047"/>
          </a:xfrm>
          <a:prstGeom prst="rect">
            <a:avLst/>
          </a:prstGeom>
          <a:solidFill>
            <a:srgbClr val="1F1F1F"/>
          </a:solidFill>
          <a:ln>
            <a:solidFill>
              <a:srgbClr val="1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BY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1187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Open Sans Bold</vt:lpstr>
      <vt:lpstr>Instrument Sans Medium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Qwerty Stas</dc:creator>
  <cp:lastModifiedBy>Qwerty Stas</cp:lastModifiedBy>
  <cp:revision>4</cp:revision>
  <dcterms:created xsi:type="dcterms:W3CDTF">2026-08-19T11:52:48Z</dcterms:created>
  <dcterms:modified xsi:type="dcterms:W3CDTF">2026-09-22T16:41:43Z</dcterms:modified>
</cp:coreProperties>
</file>